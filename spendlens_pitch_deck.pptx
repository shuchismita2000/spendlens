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7C0C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7C0CB"/>
                </a:solidFill>
                <a:latin typeface="Arial"/>
              </a:rPr>
              <a:t>Hill saturation shape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5FC9C0"/>
            </a:solidFill>
            <a:ln w="31750" cap="flat">
              <a:solidFill>
                <a:srgbClr val="5FC9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FC9C0"/>
              </a:solidFill>
              <a:ln w="9525" cap="flat">
                <a:solidFill>
                  <a:srgbClr val="5FC9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0.5k</c:v>
                  </c:pt>
                  <c:pt idx="2">
                    <c:v>1k</c:v>
                  </c:pt>
                  <c:pt idx="3">
                    <c:v>1.5k</c:v>
                  </c:pt>
                  <c:pt idx="4">
                    <c:v>2k</c:v>
                  </c:pt>
                  <c:pt idx="5">
                    <c:v>2.5k</c:v>
                  </c:pt>
                  <c:pt idx="6">
                    <c:v>3k</c:v>
                  </c:pt>
                  <c:pt idx="7">
                    <c:v>4k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10</c:v>
                </c:pt>
                <c:pt idx="2">
                  <c:v>28</c:v>
                </c:pt>
                <c:pt idx="3">
                  <c:v>52</c:v>
                </c:pt>
                <c:pt idx="4">
                  <c:v>70</c:v>
                </c:pt>
                <c:pt idx="5">
                  <c:v>80</c:v>
                </c:pt>
                <c:pt idx="6">
                  <c:v>86</c:v>
                </c:pt>
                <c:pt idx="7">
                  <c:v>92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88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88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822"/>
        </a:solidFill>
        <a:ln>
          <a:noFill/>
        </a:ln>
        <a:effectLst/>
      </c:spPr>
    </c:plotArea>
    <c:plotVisOnly val="1"/>
    <c:dispBlanksAs val="span"/>
  </c:chart>
  <c:spPr>
    <a:solidFill>
      <a:srgbClr val="0A0E1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7C0C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7C0CB"/>
                </a:solidFill>
                <a:latin typeface="Arial"/>
              </a:rPr>
              <a:t>Adstock decay: true vs. fitted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 λ</c:v>
                </c:pt>
              </c:strCache>
            </c:strRef>
          </c:tx>
          <c:spPr>
            <a:solidFill>
              <a:srgbClr val="C9A1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Meta</c:v>
                  </c:pt>
                  <c:pt idx="1">
                    <c:v>Google</c:v>
                  </c:pt>
                  <c:pt idx="2">
                    <c:v>Influencer</c:v>
                  </c:pt>
                  <c:pt idx="3">
                    <c:v>Email/SMS</c:v>
                  </c:pt>
                  <c:pt idx="4">
                    <c:v>Affiliate</c:v>
                  </c:pt>
                  <c:pt idx="5">
                    <c:v>TV/OOH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0.35</c:v>
                </c:pt>
                <c:pt idx="1">
                  <c:v>0.2</c:v>
                </c:pt>
                <c:pt idx="2">
                  <c:v>0.65</c:v>
                </c:pt>
                <c:pt idx="3">
                  <c:v>0.1</c:v>
                </c:pt>
                <c:pt idx="4">
                  <c:v>0.4</c:v>
                </c:pt>
                <c:pt idx="5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Fitted λ</c:v>
                </c:pt>
              </c:strCache>
            </c:strRef>
          </c:tx>
          <c:spPr>
            <a:solidFill>
              <a:srgbClr val="5FC9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Meta</c:v>
                  </c:pt>
                  <c:pt idx="1">
                    <c:v>Google</c:v>
                  </c:pt>
                  <c:pt idx="2">
                    <c:v>Influencer</c:v>
                  </c:pt>
                  <c:pt idx="3">
                    <c:v>Email/SMS</c:v>
                  </c:pt>
                  <c:pt idx="4">
                    <c:v>Affiliate</c:v>
                  </c:pt>
                  <c:pt idx="5">
                    <c:v>TV/OOH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0.266</c:v>
                </c:pt>
                <c:pt idx="1">
                  <c:v>0.07</c:v>
                </c:pt>
                <c:pt idx="2">
                  <c:v>0.326</c:v>
                </c:pt>
                <c:pt idx="3">
                  <c:v>0.231</c:v>
                </c:pt>
                <c:pt idx="4">
                  <c:v>0.34</c:v>
                </c:pt>
                <c:pt idx="5">
                  <c:v>0.183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88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88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822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B7C0C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1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7C0C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7C0CB"/>
                </a:solidFill>
                <a:latin typeface="Arial"/>
              </a:rPr>
              <a:t>₹460,000 weekly budget — current vs. recommended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(even split)</c:v>
                </c:pt>
              </c:strCache>
            </c:strRef>
          </c:tx>
          <c:spPr>
            <a:solidFill>
              <a:srgbClr val="7C8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Meta</c:v>
                  </c:pt>
                  <c:pt idx="1">
                    <c:v>Google</c:v>
                  </c:pt>
                  <c:pt idx="2">
                    <c:v>Influencer</c:v>
                  </c:pt>
                  <c:pt idx="3">
                    <c:v>Email/SMS</c:v>
                  </c:pt>
                  <c:pt idx="4">
                    <c:v>Affiliate</c:v>
                  </c:pt>
                  <c:pt idx="5">
                    <c:v>TV/OOH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76667</c:v>
                </c:pt>
                <c:pt idx="1">
                  <c:v>76667</c:v>
                </c:pt>
                <c:pt idx="2">
                  <c:v>76667</c:v>
                </c:pt>
                <c:pt idx="3">
                  <c:v>76667</c:v>
                </c:pt>
                <c:pt idx="4">
                  <c:v>76667</c:v>
                </c:pt>
                <c:pt idx="5">
                  <c:v>76667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Recommended</c:v>
                </c:pt>
              </c:strCache>
            </c:strRef>
          </c:tx>
          <c:spPr>
            <a:solidFill>
              <a:srgbClr val="5FC9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Meta</c:v>
                  </c:pt>
                  <c:pt idx="1">
                    <c:v>Google</c:v>
                  </c:pt>
                  <c:pt idx="2">
                    <c:v>Influencer</c:v>
                  </c:pt>
                  <c:pt idx="3">
                    <c:v>Email/SMS</c:v>
                  </c:pt>
                  <c:pt idx="4">
                    <c:v>Affiliate</c:v>
                  </c:pt>
                  <c:pt idx="5">
                    <c:v>TV/OOH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161233</c:v>
                </c:pt>
                <c:pt idx="1">
                  <c:v>198517</c:v>
                </c:pt>
                <c:pt idx="2">
                  <c:v>82969</c:v>
                </c:pt>
                <c:pt idx="3">
                  <c:v>17282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88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88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822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B7C0C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1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2888" y="1051560"/>
            <a:ext cx="1645920" cy="164592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33745" y="1512418"/>
            <a:ext cx="724205" cy="724205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5997092" y="1775765"/>
            <a:ext cx="197510" cy="197510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Marketing Mix Copilot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34340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Aurel &amp; Co. — a fictional D2C skincare brand with a small growth team,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data-science headcount, and a budget that needs reallocating every 1–2 weeks.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Ridge/ElasticNet · Expanding-Window CV · Adstock + Saturation · SLSQP Optimization · Automated Drift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do I put next week’s budget?”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research report. An answer, same-day.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84048" cy="384048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613" y="2302093"/>
            <a:ext cx="168981" cy="168981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809061" y="2363541"/>
            <a:ext cx="46086" cy="46086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14884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data-science headcount to run or babysit a model.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7613" y="3262213"/>
            <a:ext cx="168981" cy="168981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809061" y="3323661"/>
            <a:ext cx="46086" cy="46086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cadence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31089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gets reallocated every 1–2 weeks, not quarterly.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613" y="4222333"/>
            <a:ext cx="168981" cy="168981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809061" y="4283781"/>
            <a:ext cx="46086" cy="46086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required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40690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non-technical marketer has to act on it without a data scientist reviewing every run.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384048" cy="384048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7613" y="5182453"/>
            <a:ext cx="168981" cy="168981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809061" y="5243901"/>
            <a:ext cx="46086" cy="46086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029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channels + controls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14800" y="5029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Google, Influencer, Email/SMS, Affiliate, TV/OOH — plus price, discounts, stock-outs, macro demand.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traps most MMM builds fall into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01 — Leakage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on the past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train/test split lets a model “see” next month while being scored on last month.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71800" cy="0"/>
          </a:xfrm>
          <a:prstGeom prst="line">
            <a:avLst/>
          </a:prstGeom>
          <a:noFill/>
          <a:ln w="9525">
            <a:solidFill>
              <a:srgbClr val="2A3341"/>
            </a:solidFill>
            <a:prstDash val="sysDash"/>
          </a:ln>
        </p:spPr>
      </p:sp>
      <p:sp>
        <p:nvSpPr>
          <p:cNvPr id="9" name="Text 7"/>
          <p:cNvSpPr/>
          <p:nvPr/>
        </p:nvSpPr>
        <p:spPr>
          <a:xfrm>
            <a:off x="868680" y="48006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expanding-window (walk-forward) CV — 5 folds, training window only grows forward.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031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02 — Collinearity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VIF pruning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1546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channels move together (shared promo calendars); plain regression gives unstable coefficients.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4663440"/>
            <a:ext cx="2971800" cy="0"/>
          </a:xfrm>
          <a:prstGeom prst="line">
            <a:avLst/>
          </a:prstGeom>
          <a:noFill/>
          <a:ln w="9525">
            <a:solidFill>
              <a:srgbClr val="2A3341"/>
            </a:solidFill>
            <a:prstDash val="sysDash"/>
          </a:ln>
        </p:spPr>
      </p:sp>
      <p:sp>
        <p:nvSpPr>
          <p:cNvPr id="15" name="Text 13"/>
          <p:cNvSpPr/>
          <p:nvPr/>
        </p:nvSpPr>
        <p:spPr>
          <a:xfrm>
            <a:off x="4572000" y="48006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ElasticNet absorbs correlation automatically — no hand-picked feature elimination.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1031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03 — Silent drift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75320" y="24688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marketers can’t audit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31546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retrain that quietly changes its mind erodes trust fast.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75320" y="4663440"/>
            <a:ext cx="2971800" cy="0"/>
          </a:xfrm>
          <a:prstGeom prst="line">
            <a:avLst/>
          </a:prstGeom>
          <a:noFill/>
          <a:ln w="9525">
            <a:solidFill>
              <a:srgbClr val="2A3341"/>
            </a:solidFill>
            <a:prstDash val="sysDash"/>
          </a:ln>
        </p:spPr>
      </p:sp>
      <p:sp>
        <p:nvSpPr>
          <p:cNvPr id="21" name="Text 19"/>
          <p:cNvSpPr/>
          <p:nvPr/>
        </p:nvSpPr>
        <p:spPr>
          <a:xfrm>
            <a:off x="8275320" y="48006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every retrain flags any channel coefficient moving &gt;25% week-over-week.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spend to a budget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A212C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weekly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0"/>
            <a:ext cx="16504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22449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A212C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2449" y="23774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39769" y="2377440"/>
            <a:ext cx="16504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04818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A212C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4818" y="23774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22138" y="2377440"/>
            <a:ext cx="16504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7188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5FC9C0"/>
          </a:solidFill>
          <a:ln w="12700">
            <a:solidFill>
              <a:srgbClr val="5FC9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7188" y="23774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(joint search)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04508" y="2377440"/>
            <a:ext cx="16504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69557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A212C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9557" y="23774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units_sold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86877" y="2377440"/>
            <a:ext cx="16504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51926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A212C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51926" y="23774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SLSQP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9246" y="2377440"/>
            <a:ext cx="16504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34295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A212C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34295" y="23774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week's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 and saturation are causal transforms (depend only on past spend) — computed once over full history, then ElasticNet + saturation params are tuned jointly via randomized search, scored by expanding-window CV.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00584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weekly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61188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channels + 13 controls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21792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search iterations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2396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82396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expanding-window CV folds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 + saturation, fit in one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adstock </a:t>
            </a:r>
            <a:pPr indent="0" marL="0">
              <a:buNone/>
            </a:pPr>
            <a:r>
              <a:rPr lang="en-US" sz="15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carryover effect.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adstocked(t) = spend(t) + λ × adstocked(t-1)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near 1 = slow decay (TV/brand). λ near 0 = fast decay (search intent).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saturation </a:t>
            </a:r>
            <a:pPr indent="0" marL="0">
              <a:buNone/>
            </a:pPr>
            <a:r>
              <a:rPr lang="en-US" sz="15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diminishing returns.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sat(a) = a^s ÷ (a^s + k^s)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half-saturation point. s = curve steepness.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397764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39776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manual VIF pruning: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transforms are sklearn TransformerMixin classes inside the same pipeline as ElasticNet. Lambda, k, s, alpha, and l1_ratio are all searched jointly — nothing about the media transform is hand-fit before the regression sees the data.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Expanding-window CV — no fold trains on its own future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913632" cy="566928"/>
          </a:xfrm>
          <a:prstGeom prst="rect">
            <a:avLst/>
          </a:prstGeom>
          <a:solidFill>
            <a:srgbClr val="5FC9C0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53712" y="1965960"/>
            <a:ext cx="1128932" cy="566928"/>
          </a:xfrm>
          <a:prstGeom prst="rect">
            <a:avLst/>
          </a:prstGeom>
          <a:solidFill>
            <a:srgbClr val="C9A15B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[0:52] (52 wks)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45152" y="1965960"/>
            <a:ext cx="9460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[52:67]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61320" y="196596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5042564" cy="566928"/>
          </a:xfrm>
          <a:prstGeom prst="rect">
            <a:avLst/>
          </a:prstGeom>
          <a:solidFill>
            <a:srgbClr val="5FC9C0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82644" y="2697480"/>
            <a:ext cx="1128932" cy="566928"/>
          </a:xfrm>
          <a:prstGeom prst="rect">
            <a:avLst/>
          </a:prstGeom>
          <a:solidFill>
            <a:srgbClr val="C9A15B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48596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[0:67] (67 wks)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74084" y="2697480"/>
            <a:ext cx="9460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[67:82]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61320" y="269748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6171497" cy="566928"/>
          </a:xfrm>
          <a:prstGeom prst="rect">
            <a:avLst/>
          </a:prstGeom>
          <a:solidFill>
            <a:srgbClr val="5FC9C0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11577" y="3429000"/>
            <a:ext cx="1128932" cy="566928"/>
          </a:xfrm>
          <a:prstGeom prst="rect">
            <a:avLst/>
          </a:prstGeom>
          <a:solidFill>
            <a:srgbClr val="C9A15B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29000"/>
            <a:ext cx="598861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[0:82] (82 wks)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017" y="3429000"/>
            <a:ext cx="9460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[82:97]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61320" y="342900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7300429" cy="566928"/>
          </a:xfrm>
          <a:prstGeom prst="rect">
            <a:avLst/>
          </a:prstGeom>
          <a:solidFill>
            <a:srgbClr val="5FC9C0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940509" y="4160520"/>
            <a:ext cx="1128932" cy="566928"/>
          </a:xfrm>
          <a:prstGeom prst="rect">
            <a:avLst/>
          </a:prstGeom>
          <a:solidFill>
            <a:srgbClr val="C9A15B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711754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[0:97] (97 wks)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31949" y="4160520"/>
            <a:ext cx="9460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[97:112]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61320" y="416052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8429361" cy="566928"/>
          </a:xfrm>
          <a:prstGeom prst="rect">
            <a:avLst/>
          </a:prstGeom>
          <a:solidFill>
            <a:srgbClr val="5FC9C0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069441" y="4892040"/>
            <a:ext cx="1354719" cy="566928"/>
          </a:xfrm>
          <a:prstGeom prst="rect">
            <a:avLst/>
          </a:prstGeom>
          <a:solidFill>
            <a:srgbClr val="C9A15B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92040"/>
            <a:ext cx="824648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[0:112] (112 wks)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60881" y="4892040"/>
            <a:ext cx="1171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[112:130]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61320" y="489204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window only grows forward across folds — this matches exactly how the model is used in production: retrain weekly, predict forward.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method works — not just fits noise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with KNOWN ground-truth adstock/saturation lets us check what the pipeline actually recovered.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920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121822"/>
          </a:solidFill>
          <a:ln w="12700">
            <a:solidFill>
              <a:srgbClr val="6BBF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057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818120" y="2697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saturation SHAPE correlation to ground truth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365760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121822"/>
          </a:solidFill>
          <a:ln w="12700">
            <a:solidFill>
              <a:srgbClr val="E066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18120" y="416052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 DECAY SPEED is harder to identify than saturation shape with ~130 weeks — especially TV/OOH (0.70 true vs 0.18 fitted). A known MMM limitation, not a bug.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accuracy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6576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weekly forecast error — the decision-relevant number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2860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89120" y="3200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6576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— total variance is trend-dominated, which inflates R²'s denominator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01000" y="20116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2860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01000" y="3200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MAPE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36576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refit on all 130 weeks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120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MAPE, not R², is the number to lead with: weekly units_sold has a strong long-run growth trend. R² measures variance explained relative to the mean — when a trend dominates total variance, R² gets noisy across small holdout folds even when absolute forecast error (MAPE) stays low and stable.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differentiator: a model that can't quietly change its mind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retrain compares this week's channel coefficients to the prior run. Any channel moving beyond ±25% is flagged — before the marketer acts on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A1414"/>
          </a:solidFill>
          <a:ln w="12700">
            <a:solidFill>
              <a:srgbClr val="E066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FLAGGED — Affiliate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moved −40.4% week-over-week (33.3 → 19.9). Real retrain history, this repo.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2493" y="3851453"/>
            <a:ext cx="160934" cy="160934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801014" y="3909974"/>
            <a:ext cx="43891" cy="43891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703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7033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history stored every run — not overwritten.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493" y="4628693"/>
            <a:ext cx="160934" cy="160934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801014" y="4687214"/>
            <a:ext cx="43891" cy="43891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4480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±25% default, set in configs/model_config.yaml.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365760" cy="3657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493" y="5405933"/>
            <a:ext cx="160934" cy="160934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801014" y="5464454"/>
            <a:ext cx="43891" cy="43891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5257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channels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5257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Control-feature coefficients near zero are excluded — avoids noisy false alarms.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budget optimization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7452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7452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121822"/>
          </a:solidFill>
          <a:ln w="12700">
            <a:solidFill>
              <a:srgbClr val="6BBF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20574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+38.4%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046720" y="27889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lift vs. naive even split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18120" y="3794760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SLSQP solves: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Σ coefᵢ × satᵢ(adstockᵢ(spendᵢ))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to Σ spendᵢ = budget,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minᵢ ≤ spendᵢ ≤ maxᵢ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18120" y="53492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 because Hill saturation × a positive linear coefficient is concave — SLSQP converges reliably, no global optimizer needed.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sections, one console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365760" cy="3657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1093" y="2114093"/>
            <a:ext cx="160934" cy="160934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029614" y="2172614"/>
            <a:ext cx="43891" cy="43891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9842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spend, blended ROI, orders — the 10-second read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11680"/>
            <a:ext cx="365760" cy="3657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8693" y="2114093"/>
            <a:ext cx="160934" cy="160934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4687214" y="2172614"/>
            <a:ext cx="43891" cy="43891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9842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%, ROI, spend-vs-ROI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011680"/>
            <a:ext cx="365760" cy="3657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86293" y="2114093"/>
            <a:ext cx="160934" cy="160934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8344814" y="2172614"/>
            <a:ext cx="43891" cy="43891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19842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2560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response curve per channel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023360"/>
            <a:ext cx="365760" cy="3657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1093" y="4125773"/>
            <a:ext cx="160934" cy="160934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1029614" y="4184294"/>
            <a:ext cx="43891" cy="43891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39959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Recommendation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572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vs. recommended, expected lift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7947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4023360"/>
            <a:ext cx="365760" cy="3657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28693" y="4125773"/>
            <a:ext cx="160934" cy="160934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4687214" y="4184294"/>
            <a:ext cx="43891" cy="43891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9959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Stability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26280" y="4572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trend, drift alerts, CV metrics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55280" y="37947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83880" y="4023360"/>
            <a:ext cx="365760" cy="3657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86293" y="4125773"/>
            <a:ext cx="160934" cy="160934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8344814" y="4184294"/>
            <a:ext cx="43891" cy="43891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39959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83880" y="4572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and promo impact on demand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Ask SpendLens — a retrieval-grounded chatbot: answers pull the exact numbers shown elsewhere in the console. An LLM (optional, free-tier) only phrases the numbers — never invents them.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builds, one source of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11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src/data, src/features, src/models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3291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src/optimization, src/monitoring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39776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Streamlit dashboard (dashboard/)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46634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scripts/weekly_retrain.py — the automation entrypoint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11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console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Same numbers, exported to data.js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291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HTML/CSS/JS — no backend required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39776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Client-side optimizer (marginal-utility water-filling)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46634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Same retrieval-grounded chatbot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both: the Python pipeline is the auditable source of truth (training, validation, retraining); the static site is what you'd hand a marketer or show in a demo with zero setup.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OUT 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— strengths, not weaknesses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 identifiability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speed is hard to pin down for slow-decay channels (TV/OOH, Influencer) with ~130 weeks. Saturation SHAPE still recovers at 0.98 correlation — the shape is trustworthy, the exact decay rate for brand channels less so.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935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 variables excluded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959352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website_sessions and branded_search_index are partly CAUSED by media spend. Including them as regressors would risk post-treatment bias — deliberately excluded from the model, kept only as diagnostics.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retrain weeks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weekly_retrain.py demo uses a simplified proxy for new data (not the full ground-truth generator) — good enough to exercise drift/retrain mechanics, not a substitute for the validated dataset.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Aurel &amp; Co.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188720"/>
            <a:ext cx="1280160" cy="1280160"/>
          </a:xfrm>
          <a:prstGeom prst="ellipse">
            <a:avLst/>
          </a:prstGeom>
          <a:ln w="15875">
            <a:solidFill>
              <a:srgbClr val="5FC9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14212" y="1547165"/>
            <a:ext cx="563270" cy="563270"/>
          </a:xfrm>
          <a:prstGeom prst="ellipse">
            <a:avLst/>
          </a:prstGeom>
          <a:ln w="15875">
            <a:solidFill>
              <a:srgbClr val="C9A15B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6019038" y="1751990"/>
            <a:ext cx="153619" cy="153619"/>
          </a:xfrm>
          <a:prstGeom prst="ellipse">
            <a:avLst/>
          </a:prstGeom>
          <a:solidFill>
            <a:srgbClr val="5FC9C0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matters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6B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+38.4%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828800" y="443484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revenue lift from reallocating the same budget — validated, auditable, and re-run automatically every week.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github.com/[your-repo]/spendlens-mmm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2026-07-14T11:49:34Z</dcterms:created>
  <dcterms:modified xsi:type="dcterms:W3CDTF">2026-07-14T11:49:34Z</dcterms:modified>
</cp:coreProperties>
</file>